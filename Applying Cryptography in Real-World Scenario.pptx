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81" r:id="rId3"/>
    <p:sldId id="258" r:id="rId4"/>
    <p:sldId id="259" r:id="rId5"/>
    <p:sldId id="260" r:id="rId6"/>
    <p:sldId id="264" r:id="rId7"/>
    <p:sldId id="265" r:id="rId8"/>
    <p:sldId id="266" r:id="rId9"/>
    <p:sldId id="276" r:id="rId10"/>
    <p:sldId id="280" r:id="rId11"/>
    <p:sldId id="279" r:id="rId12"/>
    <p:sldId id="278" r:id="rId13"/>
    <p:sldId id="268" r:id="rId14"/>
    <p:sldId id="277" r:id="rId15"/>
    <p:sldId id="271" r:id="rId16"/>
    <p:sldId id="273" r:id="rId17"/>
    <p:sldId id="274" r:id="rId18"/>
    <p:sldId id="275" r:id="rId19"/>
    <p:sldId id="261" r:id="rId20"/>
    <p:sldId id="262" r:id="rId21"/>
    <p:sldId id="263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jBb122vIqdX3IgMWKn3EVI0zoJ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0370F392-5DE5-A107-B739-DDA4AB2E1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CABA3754-CC0D-B1E1-72E7-37333ACE49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8CB2158B-A273-6969-795C-EBDFFF844B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66481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91C3F322-1BAA-C309-DD25-F9D5C4AF4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>
            <a:extLst>
              <a:ext uri="{FF2B5EF4-FFF2-40B4-BE49-F238E27FC236}">
                <a16:creationId xmlns:a16="http://schemas.microsoft.com/office/drawing/2014/main" id="{AFE689DF-D1F1-805B-7F3E-EF08CC620E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5:notes">
            <a:extLst>
              <a:ext uri="{FF2B5EF4-FFF2-40B4-BE49-F238E27FC236}">
                <a16:creationId xmlns:a16="http://schemas.microsoft.com/office/drawing/2014/main" id="{E6A83641-4509-9F3D-C0FD-7D94A95EF2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66348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A6E98A7A-D24B-DD74-6AF4-5AFCDEAB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>
            <a:extLst>
              <a:ext uri="{FF2B5EF4-FFF2-40B4-BE49-F238E27FC236}">
                <a16:creationId xmlns:a16="http://schemas.microsoft.com/office/drawing/2014/main" id="{2B577D61-8AB6-C19C-C591-7ACBCC5922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5:notes">
            <a:extLst>
              <a:ext uri="{FF2B5EF4-FFF2-40B4-BE49-F238E27FC236}">
                <a16:creationId xmlns:a16="http://schemas.microsoft.com/office/drawing/2014/main" id="{9B994D4F-82B1-8A87-5F6B-86CC39B8CB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13431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4CB4EB13-178B-C766-9EB4-89CCFF6B2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>
            <a:extLst>
              <a:ext uri="{FF2B5EF4-FFF2-40B4-BE49-F238E27FC236}">
                <a16:creationId xmlns:a16="http://schemas.microsoft.com/office/drawing/2014/main" id="{65C2A1FD-4444-8399-D94E-C3A5ECB2A7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5:notes">
            <a:extLst>
              <a:ext uri="{FF2B5EF4-FFF2-40B4-BE49-F238E27FC236}">
                <a16:creationId xmlns:a16="http://schemas.microsoft.com/office/drawing/2014/main" id="{84DB1FAC-053F-66C1-5A81-AF37E799DD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273522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E8645B2E-628F-13F1-3B4A-C52618451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>
            <a:extLst>
              <a:ext uri="{FF2B5EF4-FFF2-40B4-BE49-F238E27FC236}">
                <a16:creationId xmlns:a16="http://schemas.microsoft.com/office/drawing/2014/main" id="{B5C7D012-987F-2924-6A50-7383CEE745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5:notes">
            <a:extLst>
              <a:ext uri="{FF2B5EF4-FFF2-40B4-BE49-F238E27FC236}">
                <a16:creationId xmlns:a16="http://schemas.microsoft.com/office/drawing/2014/main" id="{9958B714-856E-B669-61E7-84B736413C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472970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4E835660-C25D-6809-A4C7-81F70A6B2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>
            <a:extLst>
              <a:ext uri="{FF2B5EF4-FFF2-40B4-BE49-F238E27FC236}">
                <a16:creationId xmlns:a16="http://schemas.microsoft.com/office/drawing/2014/main" id="{A779FCA7-4EF3-1CB8-32F6-C16BA0BA86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5:notes">
            <a:extLst>
              <a:ext uri="{FF2B5EF4-FFF2-40B4-BE49-F238E27FC236}">
                <a16:creationId xmlns:a16="http://schemas.microsoft.com/office/drawing/2014/main" id="{187BD345-6E77-875B-924E-55365A7065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0720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A7206A34-D16B-E506-FE3C-17CD57384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>
            <a:extLst>
              <a:ext uri="{FF2B5EF4-FFF2-40B4-BE49-F238E27FC236}">
                <a16:creationId xmlns:a16="http://schemas.microsoft.com/office/drawing/2014/main" id="{152051AE-9C6D-70DF-3B53-D0D54BB621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5:notes">
            <a:extLst>
              <a:ext uri="{FF2B5EF4-FFF2-40B4-BE49-F238E27FC236}">
                <a16:creationId xmlns:a16="http://schemas.microsoft.com/office/drawing/2014/main" id="{C989F882-0908-9E4A-2804-5C4ABE8EF7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120298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F0E1031B-03BE-6C3F-0BA8-606B365BA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>
            <a:extLst>
              <a:ext uri="{FF2B5EF4-FFF2-40B4-BE49-F238E27FC236}">
                <a16:creationId xmlns:a16="http://schemas.microsoft.com/office/drawing/2014/main" id="{819B9CEE-3484-10BD-6093-19EABA4441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5:notes">
            <a:extLst>
              <a:ext uri="{FF2B5EF4-FFF2-40B4-BE49-F238E27FC236}">
                <a16:creationId xmlns:a16="http://schemas.microsoft.com/office/drawing/2014/main" id="{179E02C2-6FF4-ECA1-8B17-DE9B1BFB87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775987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A73BD867-9594-C33F-EA85-B0100766F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>
            <a:extLst>
              <a:ext uri="{FF2B5EF4-FFF2-40B4-BE49-F238E27FC236}">
                <a16:creationId xmlns:a16="http://schemas.microsoft.com/office/drawing/2014/main" id="{9D6C1D39-597E-B7BC-66C0-B918D5A632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5:notes">
            <a:extLst>
              <a:ext uri="{FF2B5EF4-FFF2-40B4-BE49-F238E27FC236}">
                <a16:creationId xmlns:a16="http://schemas.microsoft.com/office/drawing/2014/main" id="{31A0F053-CF94-7F8F-DD50-6BDED9AD5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370442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3C198E7B-71CC-7439-F527-07934CD0A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>
            <a:extLst>
              <a:ext uri="{FF2B5EF4-FFF2-40B4-BE49-F238E27FC236}">
                <a16:creationId xmlns:a16="http://schemas.microsoft.com/office/drawing/2014/main" id="{892446C7-0FED-8970-4E0B-DCE2298A1A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5:notes">
            <a:extLst>
              <a:ext uri="{FF2B5EF4-FFF2-40B4-BE49-F238E27FC236}">
                <a16:creationId xmlns:a16="http://schemas.microsoft.com/office/drawing/2014/main" id="{60F157D6-C6A1-3820-02A8-DFB91A8516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715093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0A5DCF5B-96E2-973B-71BE-8897FA662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>
            <a:extLst>
              <a:ext uri="{FF2B5EF4-FFF2-40B4-BE49-F238E27FC236}">
                <a16:creationId xmlns:a16="http://schemas.microsoft.com/office/drawing/2014/main" id="{1C6A9D2F-EFD5-10CF-4FAB-DBD619B35F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5:notes">
            <a:extLst>
              <a:ext uri="{FF2B5EF4-FFF2-40B4-BE49-F238E27FC236}">
                <a16:creationId xmlns:a16="http://schemas.microsoft.com/office/drawing/2014/main" id="{37636ECC-8ECC-A3D9-812B-A65E93667B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320375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577E8E4A-86B4-D06C-8A70-C18EA93EF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>
            <a:extLst>
              <a:ext uri="{FF2B5EF4-FFF2-40B4-BE49-F238E27FC236}">
                <a16:creationId xmlns:a16="http://schemas.microsoft.com/office/drawing/2014/main" id="{3B3C5701-99B2-C480-1130-58D4D9003E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5:notes">
            <a:extLst>
              <a:ext uri="{FF2B5EF4-FFF2-40B4-BE49-F238E27FC236}">
                <a16:creationId xmlns:a16="http://schemas.microsoft.com/office/drawing/2014/main" id="{67225BF0-B641-77FC-2105-DD81DA3690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213047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377EB3D1-31B6-1040-7537-27AA1B43B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>
            <a:extLst>
              <a:ext uri="{FF2B5EF4-FFF2-40B4-BE49-F238E27FC236}">
                <a16:creationId xmlns:a16="http://schemas.microsoft.com/office/drawing/2014/main" id="{9726D72A-F2DB-7393-17AF-E064E095E3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5:notes">
            <a:extLst>
              <a:ext uri="{FF2B5EF4-FFF2-40B4-BE49-F238E27FC236}">
                <a16:creationId xmlns:a16="http://schemas.microsoft.com/office/drawing/2014/main" id="{C872FA55-293F-AD6D-B73C-F17F61252A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387108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4F437ED5-93E9-173A-0A90-FDEA6500C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>
            <a:extLst>
              <a:ext uri="{FF2B5EF4-FFF2-40B4-BE49-F238E27FC236}">
                <a16:creationId xmlns:a16="http://schemas.microsoft.com/office/drawing/2014/main" id="{8CB9D0D0-BD3B-9BED-82D0-A1E6CB9C58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5:notes">
            <a:extLst>
              <a:ext uri="{FF2B5EF4-FFF2-40B4-BE49-F238E27FC236}">
                <a16:creationId xmlns:a16="http://schemas.microsoft.com/office/drawing/2014/main" id="{57C90F33-7138-8F82-0D2E-6B4E9255E0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274252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9" name="Google Shape;1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JP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JP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1138518" y="2026626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1138519" y="1734670"/>
            <a:ext cx="10256312" cy="3561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br>
              <a:rPr lang="en-US" sz="32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PROJECT: APPLYING CRYPTOGRAPHY IN REAL-WORLD SCENARIOS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457200" algn="ctr" rtl="0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32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457200" marR="0" lvl="0" indent="457200" algn="ctr" rtl="0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457200" marR="0" lvl="0" indent="457200" algn="ctr" rtl="0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						         </a:t>
            </a:r>
            <a:endParaRPr sz="32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>
          <a:extLst>
            <a:ext uri="{FF2B5EF4-FFF2-40B4-BE49-F238E27FC236}">
              <a16:creationId xmlns:a16="http://schemas.microsoft.com/office/drawing/2014/main" id="{7CD89126-BC8A-C0D8-892C-F5400AC8F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>
            <a:extLst>
              <a:ext uri="{FF2B5EF4-FFF2-40B4-BE49-F238E27FC236}">
                <a16:creationId xmlns:a16="http://schemas.microsoft.com/office/drawing/2014/main" id="{B6DEA2A5-7450-98FE-5CEA-E5F1596D6CD4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2">
            <a:extLst>
              <a:ext uri="{FF2B5EF4-FFF2-40B4-BE49-F238E27FC236}">
                <a16:creationId xmlns:a16="http://schemas.microsoft.com/office/drawing/2014/main" id="{40B06C51-12DE-FD57-86A1-66F74C8CD2C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AF5CAA5A-9002-5814-E371-3EFCB119F525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7BC60D4E-B027-4210-E245-D31BFDD6C51A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2">
            <a:extLst>
              <a:ext uri="{FF2B5EF4-FFF2-40B4-BE49-F238E27FC236}">
                <a16:creationId xmlns:a16="http://schemas.microsoft.com/office/drawing/2014/main" id="{49B02B45-02F8-6D41-D1F7-B1DBA8B44C6F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00" name="Google Shape;100;p2">
            <a:extLst>
              <a:ext uri="{FF2B5EF4-FFF2-40B4-BE49-F238E27FC236}">
                <a16:creationId xmlns:a16="http://schemas.microsoft.com/office/drawing/2014/main" id="{68CF38D8-7BA1-1A38-2B34-60E742BA082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43542330-F442-FD51-75F2-4AE47BB9A17F}"/>
              </a:ext>
            </a:extLst>
          </p:cNvPr>
          <p:cNvSpPr txBox="1"/>
          <p:nvPr/>
        </p:nvSpPr>
        <p:spPr>
          <a:xfrm>
            <a:off x="825004" y="1951993"/>
            <a:ext cx="11748053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200000"/>
              </a:lnSpc>
              <a:buSzPts val="3200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ALIMI ADAM CS/2025/TC3/072 		2- Michael Sonibe CS/2025/TC3/445</a:t>
            </a:r>
          </a:p>
          <a:p>
            <a:pPr lvl="0">
              <a:lnSpc>
                <a:spcPct val="200000"/>
              </a:lnSpc>
              <a:buSzPts val="3200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 Mofiyinfoluwa Adesanya CS/2025/TC3/449 	4- Al-</a:t>
            </a:r>
            <a:r>
              <a:rPr lang="en-US" sz="2000" b="1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mustapha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Sule CS/2025/TC3/073</a:t>
            </a:r>
          </a:p>
          <a:p>
            <a:pPr lvl="0">
              <a:lnSpc>
                <a:spcPct val="200000"/>
              </a:lnSpc>
              <a:buSzPts val="3200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5- Agbaje Amir CS/2025/TC3/079		6- Amarachi CS/2025/TC3/078	</a:t>
            </a:r>
          </a:p>
          <a:p>
            <a:pPr lvl="0">
              <a:lnSpc>
                <a:spcPct val="200000"/>
              </a:lnSpc>
              <a:buSzPts val="3200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7- Akinbode Mojisola CS/2025/TC3/452		8- Josu Micheal CS/2025/TC3/446</a:t>
            </a:r>
          </a:p>
          <a:p>
            <a:pPr lvl="0">
              <a:lnSpc>
                <a:spcPct val="200000"/>
              </a:lnSpc>
              <a:buSzPts val="3200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9- Amaka </a:t>
            </a:r>
            <a:r>
              <a:rPr lang="en-US" sz="2000" b="1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kanu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CS/2025/TC3/076		10- Anas  Haruna: CS/2025/TC3/081</a:t>
            </a:r>
          </a:p>
          <a:p>
            <a:pPr lvl="0">
              <a:lnSpc>
                <a:spcPct val="200000"/>
              </a:lnSpc>
              <a:buSzPts val="3200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11- </a:t>
            </a:r>
            <a:r>
              <a:rPr lang="en-US" sz="2000" b="1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Mofehintoluwa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Maraiyesa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CS/2025/TC3/448	12- AMUSAT Zainab CS/2025/TC3/080</a:t>
            </a: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C5A706-6D49-BB49-BC4E-9AF8FA51B3E6}"/>
              </a:ext>
            </a:extLst>
          </p:cNvPr>
          <p:cNvSpPr txBox="1"/>
          <p:nvPr/>
        </p:nvSpPr>
        <p:spPr>
          <a:xfrm>
            <a:off x="825004" y="978486"/>
            <a:ext cx="6309360" cy="10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Group No.8</a:t>
            </a:r>
            <a:endParaRPr lang="en-US" sz="2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Team Members;</a:t>
            </a:r>
            <a:endParaRPr lang="en-US" sz="2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3248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11" name="Google Shape;111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109330" y="1232643"/>
            <a:ext cx="11748053" cy="5977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Outline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Aim and Objective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Methodology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4572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Concept of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4572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Tools Used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sz="3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540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4"/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2"/>
            <a:ext cx="10541991" cy="3224951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22" name="Google Shape;12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 txBox="1"/>
          <p:nvPr/>
        </p:nvSpPr>
        <p:spPr>
          <a:xfrm>
            <a:off x="109330" y="1232643"/>
            <a:ext cx="11748053" cy="1158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Aim and Objective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794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13658-96CD-6603-784F-338B6FAFF247}"/>
              </a:ext>
            </a:extLst>
          </p:cNvPr>
          <p:cNvSpPr txBox="1"/>
          <p:nvPr/>
        </p:nvSpPr>
        <p:spPr>
          <a:xfrm>
            <a:off x="1138518" y="2128417"/>
            <a:ext cx="7998448" cy="304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project aims to:</a:t>
            </a:r>
          </a:p>
          <a:p>
            <a:pPr marL="342900" marR="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fundamental cryptographic concepts</a:t>
            </a:r>
          </a:p>
          <a:p>
            <a:pPr marL="342900" marR="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Implement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encryption and decryption using command-line tools</a:t>
            </a:r>
          </a:p>
          <a:p>
            <a:pPr marL="342900" marR="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data integrity verification through hashing</a:t>
            </a:r>
          </a:p>
          <a:p>
            <a:pPr marL="342900" marR="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public key cryptography for secure messaging</a:t>
            </a:r>
          </a:p>
          <a:p>
            <a:pPr marL="342900" marR="0" lvl="0" indent="-3429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Simulate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real-world security scenarios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5"/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33" name="Google Shape;13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 txBox="1"/>
          <p:nvPr/>
        </p:nvSpPr>
        <p:spPr>
          <a:xfrm>
            <a:off x="109330" y="1232643"/>
            <a:ext cx="11748053" cy="559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Methodology </a:t>
            </a: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925DBD-4E31-3E57-4156-473FCB07C507}"/>
              </a:ext>
            </a:extLst>
          </p:cNvPr>
          <p:cNvSpPr txBox="1"/>
          <p:nvPr/>
        </p:nvSpPr>
        <p:spPr>
          <a:xfrm>
            <a:off x="825004" y="2554175"/>
            <a:ext cx="8311962" cy="2012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OpenSSL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Cryptographic toolkit for encryption, hashing, and key generation</a:t>
            </a:r>
          </a:p>
          <a:p>
            <a:pPr marL="342900" marR="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Windows: Download from openssl.org</a:t>
            </a:r>
          </a:p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GPG (GNU Privacy Guard)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Implementation of PGP for encryption and signing</a:t>
            </a:r>
          </a:p>
          <a:p>
            <a:pPr marL="342900" marR="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Windows: Download GPG4Win from gpg4win.org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E03DF1FF-78D8-6A6F-E74C-738502912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>
            <a:extLst>
              <a:ext uri="{FF2B5EF4-FFF2-40B4-BE49-F238E27FC236}">
                <a16:creationId xmlns:a16="http://schemas.microsoft.com/office/drawing/2014/main" id="{418AD38D-3CDE-4CEF-643D-E27A3C98E6EB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5">
            <a:extLst>
              <a:ext uri="{FF2B5EF4-FFF2-40B4-BE49-F238E27FC236}">
                <a16:creationId xmlns:a16="http://schemas.microsoft.com/office/drawing/2014/main" id="{526FAF09-3CE7-59FB-A640-E25F55A05F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>
            <a:extLst>
              <a:ext uri="{FF2B5EF4-FFF2-40B4-BE49-F238E27FC236}">
                <a16:creationId xmlns:a16="http://schemas.microsoft.com/office/drawing/2014/main" id="{3B2E331E-1AC0-80C7-5549-85516491AA8C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>
            <a:extLst>
              <a:ext uri="{FF2B5EF4-FFF2-40B4-BE49-F238E27FC236}">
                <a16:creationId xmlns:a16="http://schemas.microsoft.com/office/drawing/2014/main" id="{F1856033-1F83-474C-603F-70D20DF104BE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5">
            <a:extLst>
              <a:ext uri="{FF2B5EF4-FFF2-40B4-BE49-F238E27FC236}">
                <a16:creationId xmlns:a16="http://schemas.microsoft.com/office/drawing/2014/main" id="{DE00A751-0F86-83F0-1A60-7124ACBD294E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501345" y="2026626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33" name="Google Shape;133;p5">
            <a:extLst>
              <a:ext uri="{FF2B5EF4-FFF2-40B4-BE49-F238E27FC236}">
                <a16:creationId xmlns:a16="http://schemas.microsoft.com/office/drawing/2014/main" id="{F3142B9F-185E-BD52-7101-B560DA59E60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>
            <a:extLst>
              <a:ext uri="{FF2B5EF4-FFF2-40B4-BE49-F238E27FC236}">
                <a16:creationId xmlns:a16="http://schemas.microsoft.com/office/drawing/2014/main" id="{048989B3-6A83-B580-32F2-28EBFBA1603B}"/>
              </a:ext>
            </a:extLst>
          </p:cNvPr>
          <p:cNvSpPr txBox="1"/>
          <p:nvPr/>
        </p:nvSpPr>
        <p:spPr>
          <a:xfrm>
            <a:off x="109330" y="1232643"/>
            <a:ext cx="11748053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Creating a Project Directory via Ubuntu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32CC37-4EA9-F819-3E3A-69F798885A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172" y="2277032"/>
            <a:ext cx="9200271" cy="263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93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D9B1A932-516D-C418-48DA-910487DC9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>
            <a:extLst>
              <a:ext uri="{FF2B5EF4-FFF2-40B4-BE49-F238E27FC236}">
                <a16:creationId xmlns:a16="http://schemas.microsoft.com/office/drawing/2014/main" id="{1D45B620-0847-AA34-6C05-CC9A76973BFB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5">
            <a:extLst>
              <a:ext uri="{FF2B5EF4-FFF2-40B4-BE49-F238E27FC236}">
                <a16:creationId xmlns:a16="http://schemas.microsoft.com/office/drawing/2014/main" id="{EC0612E8-3B9D-8F01-D0AE-B6C920EE557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>
            <a:extLst>
              <a:ext uri="{FF2B5EF4-FFF2-40B4-BE49-F238E27FC236}">
                <a16:creationId xmlns:a16="http://schemas.microsoft.com/office/drawing/2014/main" id="{63BEC77F-BAB9-6F65-01F6-8CD8D17E8A74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>
            <a:extLst>
              <a:ext uri="{FF2B5EF4-FFF2-40B4-BE49-F238E27FC236}">
                <a16:creationId xmlns:a16="http://schemas.microsoft.com/office/drawing/2014/main" id="{1C2319F2-46A0-8EE2-F669-0E0E7E464FBB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5">
            <a:extLst>
              <a:ext uri="{FF2B5EF4-FFF2-40B4-BE49-F238E27FC236}">
                <a16:creationId xmlns:a16="http://schemas.microsoft.com/office/drawing/2014/main" id="{B6EE6964-5DD5-C7F6-11F9-53372C336E66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501345" y="2026626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33" name="Google Shape;133;p5">
            <a:extLst>
              <a:ext uri="{FF2B5EF4-FFF2-40B4-BE49-F238E27FC236}">
                <a16:creationId xmlns:a16="http://schemas.microsoft.com/office/drawing/2014/main" id="{21B75EA1-C96B-C92E-828B-95BE62ACADD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>
            <a:extLst>
              <a:ext uri="{FF2B5EF4-FFF2-40B4-BE49-F238E27FC236}">
                <a16:creationId xmlns:a16="http://schemas.microsoft.com/office/drawing/2014/main" id="{C1DBBB6D-A091-32D2-448F-D62E0B6C4507}"/>
              </a:ext>
            </a:extLst>
          </p:cNvPr>
          <p:cNvSpPr txBox="1"/>
          <p:nvPr/>
        </p:nvSpPr>
        <p:spPr>
          <a:xfrm>
            <a:off x="109330" y="1232643"/>
            <a:ext cx="11748053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Creating a Sample File of Student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D2F004-C9E5-946A-9786-0A3BFAC330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0496" y="2322342"/>
            <a:ext cx="8568615" cy="271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659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F38C518C-12C2-0EDC-216B-54F6A977B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>
            <a:extLst>
              <a:ext uri="{FF2B5EF4-FFF2-40B4-BE49-F238E27FC236}">
                <a16:creationId xmlns:a16="http://schemas.microsoft.com/office/drawing/2014/main" id="{71D9D5CF-5B00-19D9-409F-9CDEA1D6655F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5">
            <a:extLst>
              <a:ext uri="{FF2B5EF4-FFF2-40B4-BE49-F238E27FC236}">
                <a16:creationId xmlns:a16="http://schemas.microsoft.com/office/drawing/2014/main" id="{1CC2508F-8D90-7A60-9B66-EE576B3EC5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>
            <a:extLst>
              <a:ext uri="{FF2B5EF4-FFF2-40B4-BE49-F238E27FC236}">
                <a16:creationId xmlns:a16="http://schemas.microsoft.com/office/drawing/2014/main" id="{C6C798EF-E881-E5D5-FA5B-33D215991657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>
            <a:extLst>
              <a:ext uri="{FF2B5EF4-FFF2-40B4-BE49-F238E27FC236}">
                <a16:creationId xmlns:a16="http://schemas.microsoft.com/office/drawing/2014/main" id="{ED77D629-A70F-EB54-8A73-9B6559259A7C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5">
            <a:extLst>
              <a:ext uri="{FF2B5EF4-FFF2-40B4-BE49-F238E27FC236}">
                <a16:creationId xmlns:a16="http://schemas.microsoft.com/office/drawing/2014/main" id="{42FAC330-6DAB-06D3-7B25-C2EC47693C52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712360" y="2014024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33" name="Google Shape;133;p5">
            <a:extLst>
              <a:ext uri="{FF2B5EF4-FFF2-40B4-BE49-F238E27FC236}">
                <a16:creationId xmlns:a16="http://schemas.microsoft.com/office/drawing/2014/main" id="{A8B4908F-D6FE-6BFF-6128-7C75D5D7370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>
            <a:extLst>
              <a:ext uri="{FF2B5EF4-FFF2-40B4-BE49-F238E27FC236}">
                <a16:creationId xmlns:a16="http://schemas.microsoft.com/office/drawing/2014/main" id="{A4F0CB18-1CC9-B865-81A4-9830961F153C}"/>
              </a:ext>
            </a:extLst>
          </p:cNvPr>
          <p:cNvSpPr txBox="1"/>
          <p:nvPr/>
        </p:nvSpPr>
        <p:spPr>
          <a:xfrm>
            <a:off x="109330" y="1232643"/>
            <a:ext cx="11748053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Encryption &amp; Decryption Using AES(Output Match Original)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278FAD-0DE3-A688-3C63-0C36FFFB43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093" y="2277032"/>
            <a:ext cx="8367622" cy="1252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B9D0DE-D31A-FAE9-1CAF-8ADDC02791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094" y="3989218"/>
            <a:ext cx="8367621" cy="7334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8D250F-5FDF-09B5-15ED-C412937F7C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6093" y="5182804"/>
            <a:ext cx="8367622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812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90A82ACB-44F8-3B46-55D5-1F4AE963F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>
            <a:extLst>
              <a:ext uri="{FF2B5EF4-FFF2-40B4-BE49-F238E27FC236}">
                <a16:creationId xmlns:a16="http://schemas.microsoft.com/office/drawing/2014/main" id="{99C8510A-D2CB-F511-EBE7-257C40BF3A2F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5">
            <a:extLst>
              <a:ext uri="{FF2B5EF4-FFF2-40B4-BE49-F238E27FC236}">
                <a16:creationId xmlns:a16="http://schemas.microsoft.com/office/drawing/2014/main" id="{0E6C5E1F-F6AE-AFB3-2B14-BA74C10DE3F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>
            <a:extLst>
              <a:ext uri="{FF2B5EF4-FFF2-40B4-BE49-F238E27FC236}">
                <a16:creationId xmlns:a16="http://schemas.microsoft.com/office/drawing/2014/main" id="{24919909-A46A-1BC2-8B9F-D42D24198C4D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>
            <a:extLst>
              <a:ext uri="{FF2B5EF4-FFF2-40B4-BE49-F238E27FC236}">
                <a16:creationId xmlns:a16="http://schemas.microsoft.com/office/drawing/2014/main" id="{9BABAE43-83AF-A432-43ED-F19D2D0527C1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5">
            <a:extLst>
              <a:ext uri="{FF2B5EF4-FFF2-40B4-BE49-F238E27FC236}">
                <a16:creationId xmlns:a16="http://schemas.microsoft.com/office/drawing/2014/main" id="{90F91667-29BF-C372-F430-EA3BAEC101A0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712360" y="218943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33" name="Google Shape;133;p5">
            <a:extLst>
              <a:ext uri="{FF2B5EF4-FFF2-40B4-BE49-F238E27FC236}">
                <a16:creationId xmlns:a16="http://schemas.microsoft.com/office/drawing/2014/main" id="{C08913DA-2757-A50F-1D50-DFB03CC58B2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>
            <a:extLst>
              <a:ext uri="{FF2B5EF4-FFF2-40B4-BE49-F238E27FC236}">
                <a16:creationId xmlns:a16="http://schemas.microsoft.com/office/drawing/2014/main" id="{DAC06F96-A81A-3649-7F21-D1F1BE5870D3}"/>
              </a:ext>
            </a:extLst>
          </p:cNvPr>
          <p:cNvSpPr txBox="1"/>
          <p:nvPr/>
        </p:nvSpPr>
        <p:spPr>
          <a:xfrm>
            <a:off x="109330" y="1232643"/>
            <a:ext cx="11748053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</a:rPr>
              <a:t>Hashing from Student data File with the Output</a:t>
            </a:r>
            <a:endParaRPr lang="en-US" sz="2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6AFC1C-CB88-6A6A-206E-91AA3D7EE9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8518" y="2362818"/>
            <a:ext cx="9067925" cy="12732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C16503-15EB-82EF-942A-6C0C3D4D7D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518" y="3981733"/>
            <a:ext cx="9067925" cy="13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414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09E91447-3CFA-A099-5E80-7AEF9ADF1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>
            <a:extLst>
              <a:ext uri="{FF2B5EF4-FFF2-40B4-BE49-F238E27FC236}">
                <a16:creationId xmlns:a16="http://schemas.microsoft.com/office/drawing/2014/main" id="{7DAAAC59-CB8C-D076-E69C-C0B3AC67AF45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5">
            <a:extLst>
              <a:ext uri="{FF2B5EF4-FFF2-40B4-BE49-F238E27FC236}">
                <a16:creationId xmlns:a16="http://schemas.microsoft.com/office/drawing/2014/main" id="{2E2290E5-95EC-19F9-A31E-95EE5D4C169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>
            <a:extLst>
              <a:ext uri="{FF2B5EF4-FFF2-40B4-BE49-F238E27FC236}">
                <a16:creationId xmlns:a16="http://schemas.microsoft.com/office/drawing/2014/main" id="{D50139D1-4BBD-EDA9-1475-3A6F27E2B9A5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>
            <a:extLst>
              <a:ext uri="{FF2B5EF4-FFF2-40B4-BE49-F238E27FC236}">
                <a16:creationId xmlns:a16="http://schemas.microsoft.com/office/drawing/2014/main" id="{705935B4-8C1F-B76B-FDCB-A4E6BB75403C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5">
            <a:extLst>
              <a:ext uri="{FF2B5EF4-FFF2-40B4-BE49-F238E27FC236}">
                <a16:creationId xmlns:a16="http://schemas.microsoft.com/office/drawing/2014/main" id="{5B08C23C-68EA-380F-CBCC-10788C04B3CF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228868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33" name="Google Shape;133;p5">
            <a:extLst>
              <a:ext uri="{FF2B5EF4-FFF2-40B4-BE49-F238E27FC236}">
                <a16:creationId xmlns:a16="http://schemas.microsoft.com/office/drawing/2014/main" id="{8717D384-B097-C75C-57B4-513845110D7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>
            <a:extLst>
              <a:ext uri="{FF2B5EF4-FFF2-40B4-BE49-F238E27FC236}">
                <a16:creationId xmlns:a16="http://schemas.microsoft.com/office/drawing/2014/main" id="{C68CB966-D93D-CD43-6D28-07350C7D8C2E}"/>
              </a:ext>
            </a:extLst>
          </p:cNvPr>
          <p:cNvSpPr txBox="1"/>
          <p:nvPr/>
        </p:nvSpPr>
        <p:spPr>
          <a:xfrm>
            <a:off x="109330" y="1232643"/>
            <a:ext cx="11748053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8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etect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tempering in Hashing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3D076F-AD95-48F4-E79C-025ED94D13A6}"/>
              </a:ext>
            </a:extLst>
          </p:cNvPr>
          <p:cNvSpPr txBox="1"/>
          <p:nvPr/>
        </p:nvSpPr>
        <p:spPr>
          <a:xfrm>
            <a:off x="1138518" y="2089403"/>
            <a:ext cx="61194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sha256sum -c files/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student_data.hash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trying to verify with old Hash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shows Failed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E66E6C-0012-419B-3D43-AF8396C61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8518" y="3476893"/>
            <a:ext cx="9201236" cy="115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347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81BCDCF7-8661-23DD-9F1A-BC0F68825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>
            <a:extLst>
              <a:ext uri="{FF2B5EF4-FFF2-40B4-BE49-F238E27FC236}">
                <a16:creationId xmlns:a16="http://schemas.microsoft.com/office/drawing/2014/main" id="{5967B73A-AFF8-7111-5965-2BE96F65F14B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5">
            <a:extLst>
              <a:ext uri="{FF2B5EF4-FFF2-40B4-BE49-F238E27FC236}">
                <a16:creationId xmlns:a16="http://schemas.microsoft.com/office/drawing/2014/main" id="{9C85F40E-250A-8004-A8FC-0AD2A48B51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>
            <a:extLst>
              <a:ext uri="{FF2B5EF4-FFF2-40B4-BE49-F238E27FC236}">
                <a16:creationId xmlns:a16="http://schemas.microsoft.com/office/drawing/2014/main" id="{CEFC625F-4C59-0F02-B0A0-0211DDE3C3A5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>
            <a:extLst>
              <a:ext uri="{FF2B5EF4-FFF2-40B4-BE49-F238E27FC236}">
                <a16:creationId xmlns:a16="http://schemas.microsoft.com/office/drawing/2014/main" id="{80A6C081-228D-880E-9143-82BFBE5BE3B9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5">
            <a:extLst>
              <a:ext uri="{FF2B5EF4-FFF2-40B4-BE49-F238E27FC236}">
                <a16:creationId xmlns:a16="http://schemas.microsoft.com/office/drawing/2014/main" id="{7ABD8439-CEFD-A89F-5B55-585F9D5FFA9C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712360" y="218943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33" name="Google Shape;133;p5">
            <a:extLst>
              <a:ext uri="{FF2B5EF4-FFF2-40B4-BE49-F238E27FC236}">
                <a16:creationId xmlns:a16="http://schemas.microsoft.com/office/drawing/2014/main" id="{18EF98CF-72C9-F7B0-C0CB-74EECAA255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>
            <a:extLst>
              <a:ext uri="{FF2B5EF4-FFF2-40B4-BE49-F238E27FC236}">
                <a16:creationId xmlns:a16="http://schemas.microsoft.com/office/drawing/2014/main" id="{04F99435-A2B6-CDAE-3473-8064FA13B0E5}"/>
              </a:ext>
            </a:extLst>
          </p:cNvPr>
          <p:cNvSpPr txBox="1"/>
          <p:nvPr/>
        </p:nvSpPr>
        <p:spPr>
          <a:xfrm>
            <a:off x="109330" y="1232643"/>
            <a:ext cx="11748053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</a:rPr>
              <a:t>Hashing Modification showing Entirely Different result</a:t>
            </a:r>
            <a:endParaRPr lang="en-US" sz="2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60BC07-4D73-612B-552C-49622C7E5B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8518" y="2478327"/>
            <a:ext cx="8009963" cy="742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D3C098-A9C5-536E-DBB8-793E7070CA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519" y="3636724"/>
            <a:ext cx="8009962" cy="10318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1BA2F3-A895-55D1-FD6F-4D80AC53AE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8518" y="4990399"/>
            <a:ext cx="8009962" cy="91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46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7390DD7C-4DF5-2BE0-9A07-DBD081A0E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>
            <a:extLst>
              <a:ext uri="{FF2B5EF4-FFF2-40B4-BE49-F238E27FC236}">
                <a16:creationId xmlns:a16="http://schemas.microsoft.com/office/drawing/2014/main" id="{AD40D83B-5A62-2C95-931E-8C445462E4BE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5">
            <a:extLst>
              <a:ext uri="{FF2B5EF4-FFF2-40B4-BE49-F238E27FC236}">
                <a16:creationId xmlns:a16="http://schemas.microsoft.com/office/drawing/2014/main" id="{29888F51-784A-B64F-FD1E-E22678E11A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>
            <a:extLst>
              <a:ext uri="{FF2B5EF4-FFF2-40B4-BE49-F238E27FC236}">
                <a16:creationId xmlns:a16="http://schemas.microsoft.com/office/drawing/2014/main" id="{BD0B3201-4865-3C49-810D-CBAE0B598610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>
            <a:extLst>
              <a:ext uri="{FF2B5EF4-FFF2-40B4-BE49-F238E27FC236}">
                <a16:creationId xmlns:a16="http://schemas.microsoft.com/office/drawing/2014/main" id="{FCA77DB5-B22D-B7C3-69CD-6B2313C5F1E0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5">
            <a:extLst>
              <a:ext uri="{FF2B5EF4-FFF2-40B4-BE49-F238E27FC236}">
                <a16:creationId xmlns:a16="http://schemas.microsoft.com/office/drawing/2014/main" id="{070B1EF5-3120-173D-2F16-A45BBFF9F551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712360" y="218943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33" name="Google Shape;133;p5">
            <a:extLst>
              <a:ext uri="{FF2B5EF4-FFF2-40B4-BE49-F238E27FC236}">
                <a16:creationId xmlns:a16="http://schemas.microsoft.com/office/drawing/2014/main" id="{9FCA6A45-1FF0-A65C-AC06-9740E38DB12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>
            <a:extLst>
              <a:ext uri="{FF2B5EF4-FFF2-40B4-BE49-F238E27FC236}">
                <a16:creationId xmlns:a16="http://schemas.microsoft.com/office/drawing/2014/main" id="{B8DE3E5A-AB0E-46C4-4D54-55E1B0AFAE9A}"/>
              </a:ext>
            </a:extLst>
          </p:cNvPr>
          <p:cNvSpPr txBox="1"/>
          <p:nvPr/>
        </p:nvSpPr>
        <p:spPr>
          <a:xfrm>
            <a:off x="109330" y="1232643"/>
            <a:ext cx="11748053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</a:rPr>
              <a:t>Decrypting to Retrieve the Original Data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>
                <a:solidFill>
                  <a:schemeClr val="dk1"/>
                </a:solidFill>
              </a:rPr>
              <a:t>(Output Matches)</a:t>
            </a:r>
            <a:endParaRPr lang="en-US" sz="2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953789-8866-037C-E7AD-296323759D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405" y="2191246"/>
            <a:ext cx="9336038" cy="13245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BE50D1-DE4B-184D-B80C-EAD7789173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405" y="3910819"/>
            <a:ext cx="9336038" cy="171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603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F37E83FD-A999-4D3B-E736-7DA414B5B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>
            <a:extLst>
              <a:ext uri="{FF2B5EF4-FFF2-40B4-BE49-F238E27FC236}">
                <a16:creationId xmlns:a16="http://schemas.microsoft.com/office/drawing/2014/main" id="{E777709B-AF74-151E-AF78-82F6B34E03EE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5">
            <a:extLst>
              <a:ext uri="{FF2B5EF4-FFF2-40B4-BE49-F238E27FC236}">
                <a16:creationId xmlns:a16="http://schemas.microsoft.com/office/drawing/2014/main" id="{9A87D4F1-AA06-2CB6-CBF8-69AEE0960C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>
            <a:extLst>
              <a:ext uri="{FF2B5EF4-FFF2-40B4-BE49-F238E27FC236}">
                <a16:creationId xmlns:a16="http://schemas.microsoft.com/office/drawing/2014/main" id="{7EA2D3F8-B848-DDDB-FB17-EF042729254B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>
            <a:extLst>
              <a:ext uri="{FF2B5EF4-FFF2-40B4-BE49-F238E27FC236}">
                <a16:creationId xmlns:a16="http://schemas.microsoft.com/office/drawing/2014/main" id="{D636975F-E020-5A6C-A130-95C1B1B1BA64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5">
            <a:extLst>
              <a:ext uri="{FF2B5EF4-FFF2-40B4-BE49-F238E27FC236}">
                <a16:creationId xmlns:a16="http://schemas.microsoft.com/office/drawing/2014/main" id="{77BD9317-F534-B88D-A6A2-16F0B16FE9E6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712360" y="2277032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33" name="Google Shape;133;p5">
            <a:extLst>
              <a:ext uri="{FF2B5EF4-FFF2-40B4-BE49-F238E27FC236}">
                <a16:creationId xmlns:a16="http://schemas.microsoft.com/office/drawing/2014/main" id="{9C9CBB2D-02DB-FD43-D85E-48F5356D76C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>
            <a:extLst>
              <a:ext uri="{FF2B5EF4-FFF2-40B4-BE49-F238E27FC236}">
                <a16:creationId xmlns:a16="http://schemas.microsoft.com/office/drawing/2014/main" id="{55B0D3B7-E3C8-9F38-9FFF-0021039F0026}"/>
              </a:ext>
            </a:extLst>
          </p:cNvPr>
          <p:cNvSpPr txBox="1"/>
          <p:nvPr/>
        </p:nvSpPr>
        <p:spPr>
          <a:xfrm>
            <a:off x="109330" y="1232643"/>
            <a:ext cx="11748053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</a:rPr>
              <a:t>Digital Signature (Signs Document &amp; Verified Doc)</a:t>
            </a:r>
            <a:endParaRPr lang="en-US" sz="2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279183-4074-51E0-3EC7-25210AFAF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1" y="2281731"/>
            <a:ext cx="7541602" cy="14878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5DC987-D0DB-5D95-FF44-2949B74278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1" y="4201568"/>
            <a:ext cx="7541602" cy="157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134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38D8AAD9-3D06-A9AA-FF55-DBC8480C4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>
            <a:extLst>
              <a:ext uri="{FF2B5EF4-FFF2-40B4-BE49-F238E27FC236}">
                <a16:creationId xmlns:a16="http://schemas.microsoft.com/office/drawing/2014/main" id="{F2110091-CA5C-D68D-51EA-0457444CA9B4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5">
            <a:extLst>
              <a:ext uri="{FF2B5EF4-FFF2-40B4-BE49-F238E27FC236}">
                <a16:creationId xmlns:a16="http://schemas.microsoft.com/office/drawing/2014/main" id="{D15CD81F-5C76-02D0-52DC-9343905FB2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>
            <a:extLst>
              <a:ext uri="{FF2B5EF4-FFF2-40B4-BE49-F238E27FC236}">
                <a16:creationId xmlns:a16="http://schemas.microsoft.com/office/drawing/2014/main" id="{AFCA33EF-E737-46F7-4EA1-D4A68EAF8842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>
            <a:extLst>
              <a:ext uri="{FF2B5EF4-FFF2-40B4-BE49-F238E27FC236}">
                <a16:creationId xmlns:a16="http://schemas.microsoft.com/office/drawing/2014/main" id="{FE033603-5953-ED62-37AC-E571E2C5D4F6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5">
            <a:extLst>
              <a:ext uri="{FF2B5EF4-FFF2-40B4-BE49-F238E27FC236}">
                <a16:creationId xmlns:a16="http://schemas.microsoft.com/office/drawing/2014/main" id="{E2FB217F-A192-E317-8266-1EDAAED5EC1B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712360" y="2277032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33" name="Google Shape;133;p5">
            <a:extLst>
              <a:ext uri="{FF2B5EF4-FFF2-40B4-BE49-F238E27FC236}">
                <a16:creationId xmlns:a16="http://schemas.microsoft.com/office/drawing/2014/main" id="{70E4B3D8-B19A-208D-9322-B86A9839002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>
            <a:extLst>
              <a:ext uri="{FF2B5EF4-FFF2-40B4-BE49-F238E27FC236}">
                <a16:creationId xmlns:a16="http://schemas.microsoft.com/office/drawing/2014/main" id="{F3ACA341-7714-06F9-E009-A80127CCA640}"/>
              </a:ext>
            </a:extLst>
          </p:cNvPr>
          <p:cNvSpPr txBox="1"/>
          <p:nvPr/>
        </p:nvSpPr>
        <p:spPr>
          <a:xfrm>
            <a:off x="109330" y="1232643"/>
            <a:ext cx="11748053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5000"/>
              </a:lnSpc>
              <a:buSzPts val="2800"/>
            </a:pPr>
            <a:r>
              <a:rPr lang="en-US" sz="2800" b="1" dirty="0"/>
              <a:t>Generating Key Pair with GPG with Interactive Prompts</a:t>
            </a:r>
            <a:endParaRPr lang="en-US" sz="2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73AFFD-8556-B6E0-3876-277E8E4FD5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4187" y="2035300"/>
            <a:ext cx="7193280" cy="9985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369839-92FD-FA88-5F6E-C4B4C93979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4187" y="3358017"/>
            <a:ext cx="719328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408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9DE4A327-4178-2FD3-9F7E-E829F54A7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>
            <a:extLst>
              <a:ext uri="{FF2B5EF4-FFF2-40B4-BE49-F238E27FC236}">
                <a16:creationId xmlns:a16="http://schemas.microsoft.com/office/drawing/2014/main" id="{075D0F43-9726-3AC5-7941-7A14BBC8901D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5">
            <a:extLst>
              <a:ext uri="{FF2B5EF4-FFF2-40B4-BE49-F238E27FC236}">
                <a16:creationId xmlns:a16="http://schemas.microsoft.com/office/drawing/2014/main" id="{CE63B009-C90E-13ED-18F5-7CA18E9B27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>
            <a:extLst>
              <a:ext uri="{FF2B5EF4-FFF2-40B4-BE49-F238E27FC236}">
                <a16:creationId xmlns:a16="http://schemas.microsoft.com/office/drawing/2014/main" id="{28E1F4B7-2FA0-3114-A9AC-AF5F60E9A32D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>
            <a:extLst>
              <a:ext uri="{FF2B5EF4-FFF2-40B4-BE49-F238E27FC236}">
                <a16:creationId xmlns:a16="http://schemas.microsoft.com/office/drawing/2014/main" id="{5DF69FA7-4A60-464D-777A-0A51E42540BF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5">
            <a:extLst>
              <a:ext uri="{FF2B5EF4-FFF2-40B4-BE49-F238E27FC236}">
                <a16:creationId xmlns:a16="http://schemas.microsoft.com/office/drawing/2014/main" id="{330CC60C-97F4-DD1C-A33A-9AF43DAC894B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712360" y="2277032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33" name="Google Shape;133;p5">
            <a:extLst>
              <a:ext uri="{FF2B5EF4-FFF2-40B4-BE49-F238E27FC236}">
                <a16:creationId xmlns:a16="http://schemas.microsoft.com/office/drawing/2014/main" id="{FE42716F-D27A-BFDD-B10F-5E1DA39C0F1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>
            <a:extLst>
              <a:ext uri="{FF2B5EF4-FFF2-40B4-BE49-F238E27FC236}">
                <a16:creationId xmlns:a16="http://schemas.microsoft.com/office/drawing/2014/main" id="{0263C8DD-71EC-E6E9-524E-48C21581C9F6}"/>
              </a:ext>
            </a:extLst>
          </p:cNvPr>
          <p:cNvSpPr txBox="1"/>
          <p:nvPr/>
        </p:nvSpPr>
        <p:spPr>
          <a:xfrm>
            <a:off x="109330" y="1232643"/>
            <a:ext cx="11748053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</a:rPr>
              <a:t>List of Keys Generated and Public Key Output</a:t>
            </a:r>
            <a:endParaRPr lang="en-US" sz="2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BA17F8-71CE-EE1C-EF1C-D1F02904A7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0155" y="2274894"/>
            <a:ext cx="7533076" cy="12541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C24600-A0A6-ED4C-9EAF-EFF3118D39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0156" y="4012724"/>
            <a:ext cx="7602070" cy="152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78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F66CBEA1-99F1-B5E8-352A-FCCB94290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>
            <a:extLst>
              <a:ext uri="{FF2B5EF4-FFF2-40B4-BE49-F238E27FC236}">
                <a16:creationId xmlns:a16="http://schemas.microsoft.com/office/drawing/2014/main" id="{0A852475-2BDC-277B-EFF6-C10DC2D01CD9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5">
            <a:extLst>
              <a:ext uri="{FF2B5EF4-FFF2-40B4-BE49-F238E27FC236}">
                <a16:creationId xmlns:a16="http://schemas.microsoft.com/office/drawing/2014/main" id="{EE2F15DE-D499-14E1-F1F1-9F879DB856D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>
            <a:extLst>
              <a:ext uri="{FF2B5EF4-FFF2-40B4-BE49-F238E27FC236}">
                <a16:creationId xmlns:a16="http://schemas.microsoft.com/office/drawing/2014/main" id="{98231DAD-758E-57B3-4E6F-2D040C443FD3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>
            <a:extLst>
              <a:ext uri="{FF2B5EF4-FFF2-40B4-BE49-F238E27FC236}">
                <a16:creationId xmlns:a16="http://schemas.microsoft.com/office/drawing/2014/main" id="{C03A85E0-B2DD-2CDE-D320-83389323C8EF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5">
            <a:extLst>
              <a:ext uri="{FF2B5EF4-FFF2-40B4-BE49-F238E27FC236}">
                <a16:creationId xmlns:a16="http://schemas.microsoft.com/office/drawing/2014/main" id="{7EDBD056-86A4-8C74-F7EA-6D4521A1D865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712360" y="2277032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33" name="Google Shape;133;p5">
            <a:extLst>
              <a:ext uri="{FF2B5EF4-FFF2-40B4-BE49-F238E27FC236}">
                <a16:creationId xmlns:a16="http://schemas.microsoft.com/office/drawing/2014/main" id="{63513751-3BEA-103D-C421-0CAEB54960F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>
            <a:extLst>
              <a:ext uri="{FF2B5EF4-FFF2-40B4-BE49-F238E27FC236}">
                <a16:creationId xmlns:a16="http://schemas.microsoft.com/office/drawing/2014/main" id="{1D1B022B-E153-6748-A34D-DAF3C1CDB03F}"/>
              </a:ext>
            </a:extLst>
          </p:cNvPr>
          <p:cNvSpPr txBox="1"/>
          <p:nvPr/>
        </p:nvSpPr>
        <p:spPr>
          <a:xfrm>
            <a:off x="109330" y="1232643"/>
            <a:ext cx="11748053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Generating Keys for both Parties </a:t>
            </a:r>
            <a:r>
              <a:rPr lang="en-GB" sz="2800" b="1" dirty="0">
                <a:solidFill>
                  <a:schemeClr val="dk1"/>
                </a:solidFill>
              </a:rPr>
              <a:t>demonstrating Secure Messaging</a:t>
            </a:r>
            <a:endParaRPr lang="en-US" sz="2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1E581D-C821-0176-57D7-71CB051A7C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3409" y="2081020"/>
            <a:ext cx="9089960" cy="404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236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9F29B680-7669-E721-C924-BB08150AB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>
            <a:extLst>
              <a:ext uri="{FF2B5EF4-FFF2-40B4-BE49-F238E27FC236}">
                <a16:creationId xmlns:a16="http://schemas.microsoft.com/office/drawing/2014/main" id="{A142287A-6760-7A13-9FC8-4C7B58A15881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5">
            <a:extLst>
              <a:ext uri="{FF2B5EF4-FFF2-40B4-BE49-F238E27FC236}">
                <a16:creationId xmlns:a16="http://schemas.microsoft.com/office/drawing/2014/main" id="{26B93282-493A-6D70-B728-A9B976DC8A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>
            <a:extLst>
              <a:ext uri="{FF2B5EF4-FFF2-40B4-BE49-F238E27FC236}">
                <a16:creationId xmlns:a16="http://schemas.microsoft.com/office/drawing/2014/main" id="{28CC3D93-3DC0-F79A-2AF7-8335EECE405C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>
            <a:extLst>
              <a:ext uri="{FF2B5EF4-FFF2-40B4-BE49-F238E27FC236}">
                <a16:creationId xmlns:a16="http://schemas.microsoft.com/office/drawing/2014/main" id="{AF118D06-A042-DF88-7C7C-C33B154CBC50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5">
            <a:extLst>
              <a:ext uri="{FF2B5EF4-FFF2-40B4-BE49-F238E27FC236}">
                <a16:creationId xmlns:a16="http://schemas.microsoft.com/office/drawing/2014/main" id="{70E53FD4-7E51-56BB-DCFD-52EB8130CFCD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712360" y="2277032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33" name="Google Shape;133;p5">
            <a:extLst>
              <a:ext uri="{FF2B5EF4-FFF2-40B4-BE49-F238E27FC236}">
                <a16:creationId xmlns:a16="http://schemas.microsoft.com/office/drawing/2014/main" id="{8E5316F4-5F5E-5DCE-C245-9395A5A6596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>
            <a:extLst>
              <a:ext uri="{FF2B5EF4-FFF2-40B4-BE49-F238E27FC236}">
                <a16:creationId xmlns:a16="http://schemas.microsoft.com/office/drawing/2014/main" id="{70CDB70C-50A1-8D04-3DA7-02E21386A84E}"/>
              </a:ext>
            </a:extLst>
          </p:cNvPr>
          <p:cNvSpPr txBox="1"/>
          <p:nvPr/>
        </p:nvSpPr>
        <p:spPr>
          <a:xfrm>
            <a:off x="109330" y="1232643"/>
            <a:ext cx="11748053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</a:rPr>
              <a:t>Real World-</a:t>
            </a:r>
            <a:r>
              <a:rPr lang="en-US" sz="2800" b="1" dirty="0" err="1">
                <a:solidFill>
                  <a:schemeClr val="dk1"/>
                </a:solidFill>
              </a:rPr>
              <a:t>Senario</a:t>
            </a:r>
            <a:r>
              <a:rPr lang="en-US" sz="2800" b="1" dirty="0">
                <a:solidFill>
                  <a:schemeClr val="dk1"/>
                </a:solidFill>
              </a:rPr>
              <a:t> Example(Confidential Doc)</a:t>
            </a:r>
            <a:endParaRPr lang="en-US" sz="2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17FA6D-7AF2-0FF6-88E2-C4A42F4306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6411" y="2081020"/>
            <a:ext cx="7602070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810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705183F7-8A0B-ABEF-2057-65AA61F68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>
            <a:extLst>
              <a:ext uri="{FF2B5EF4-FFF2-40B4-BE49-F238E27FC236}">
                <a16:creationId xmlns:a16="http://schemas.microsoft.com/office/drawing/2014/main" id="{4FD63C5C-F020-CC9B-5EB9-61332B33B8E0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5">
            <a:extLst>
              <a:ext uri="{FF2B5EF4-FFF2-40B4-BE49-F238E27FC236}">
                <a16:creationId xmlns:a16="http://schemas.microsoft.com/office/drawing/2014/main" id="{D2A8F1C8-B19A-FA2C-FF99-20EA7D3AD86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>
            <a:extLst>
              <a:ext uri="{FF2B5EF4-FFF2-40B4-BE49-F238E27FC236}">
                <a16:creationId xmlns:a16="http://schemas.microsoft.com/office/drawing/2014/main" id="{4A4181E1-5E91-CDB3-92D6-8EC0CC777AB6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>
            <a:extLst>
              <a:ext uri="{FF2B5EF4-FFF2-40B4-BE49-F238E27FC236}">
                <a16:creationId xmlns:a16="http://schemas.microsoft.com/office/drawing/2014/main" id="{FE575774-9E9C-816E-8BE2-5D31C7260C66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5">
            <a:extLst>
              <a:ext uri="{FF2B5EF4-FFF2-40B4-BE49-F238E27FC236}">
                <a16:creationId xmlns:a16="http://schemas.microsoft.com/office/drawing/2014/main" id="{903A5B38-9E18-CB6C-D2DC-9A3451F18304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712360" y="2277032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33" name="Google Shape;133;p5">
            <a:extLst>
              <a:ext uri="{FF2B5EF4-FFF2-40B4-BE49-F238E27FC236}">
                <a16:creationId xmlns:a16="http://schemas.microsoft.com/office/drawing/2014/main" id="{38B73950-5C50-55C0-1E53-2FE50F1D3C6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>
            <a:extLst>
              <a:ext uri="{FF2B5EF4-FFF2-40B4-BE49-F238E27FC236}">
                <a16:creationId xmlns:a16="http://schemas.microsoft.com/office/drawing/2014/main" id="{86D682EC-F25C-57FD-1B43-5F1195269EB4}"/>
              </a:ext>
            </a:extLst>
          </p:cNvPr>
          <p:cNvSpPr txBox="1"/>
          <p:nvPr/>
        </p:nvSpPr>
        <p:spPr>
          <a:xfrm>
            <a:off x="109330" y="1232643"/>
            <a:ext cx="11748053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dirty="0">
                <a:solidFill>
                  <a:schemeClr val="dk1"/>
                </a:solidFill>
              </a:rPr>
              <a:t>Real World-</a:t>
            </a:r>
            <a:r>
              <a:rPr lang="en-US" sz="2800" b="1" dirty="0" err="1">
                <a:solidFill>
                  <a:schemeClr val="dk1"/>
                </a:solidFill>
              </a:rPr>
              <a:t>Senario</a:t>
            </a:r>
            <a:r>
              <a:rPr lang="en-US" sz="2800" b="1" dirty="0">
                <a:solidFill>
                  <a:schemeClr val="dk1"/>
                </a:solidFill>
              </a:rPr>
              <a:t> Example(Retrieved and Decrypt Doc)</a:t>
            </a:r>
            <a:endParaRPr lang="en-US" sz="2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7D07A5-AB51-F5EC-94E2-FEDFF86E2D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9815" y="2191246"/>
            <a:ext cx="7540283" cy="284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820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6"/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271170" y="217461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44" name="Google Shape;144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 txBox="1"/>
          <p:nvPr/>
        </p:nvSpPr>
        <p:spPr>
          <a:xfrm>
            <a:off x="109330" y="1232643"/>
            <a:ext cx="11748053" cy="559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 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43B213-534F-7C3C-B34D-60A876BA147B}"/>
              </a:ext>
            </a:extLst>
          </p:cNvPr>
          <p:cNvSpPr txBox="1"/>
          <p:nvPr/>
        </p:nvSpPr>
        <p:spPr>
          <a:xfrm>
            <a:off x="559891" y="1803227"/>
            <a:ext cx="11072218" cy="4669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project successfully demonstrated practical applications of cryptography using command-line tools. We implemented: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Symmetric Encryption (AES-256)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Fast encryption for confidentiality</a:t>
            </a:r>
            <a:b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Hashing (SHA-256)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Integrity verification and tamper detection</a:t>
            </a:r>
            <a:b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Asymmetric Encryption (RSA-4096)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Secure key exchange and messaging</a:t>
            </a:r>
            <a:b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Digital Signatures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Authentication and non-repudiation</a:t>
            </a:r>
            <a:b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Real-World Scenario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Secure email exchange with multiple security properties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Takeaways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Confidentiality: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Encryption ensures only authorized parties can read data</a:t>
            </a:r>
            <a:b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Integrity: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Hashing detects any unauthorized modifications</a:t>
            </a:r>
            <a:b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Authentication: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Digital signatures prove sender identity</a:t>
            </a:r>
            <a:b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Practical Skills: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Command-line tools provide full control over cryptographic operations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Cryptography is the backbone of modern digital security. Understanding its practical implementation empowers us to build and use secure systems effectively.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7"/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55" name="Google Shape;155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 txBox="1"/>
          <p:nvPr/>
        </p:nvSpPr>
        <p:spPr>
          <a:xfrm>
            <a:off x="109330" y="1232643"/>
            <a:ext cx="11748053" cy="559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References 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7D45C7-53B7-6138-A845-7AFEB75878C7}"/>
              </a:ext>
            </a:extLst>
          </p:cNvPr>
          <p:cNvSpPr txBox="1"/>
          <p:nvPr/>
        </p:nvSpPr>
        <p:spPr>
          <a:xfrm>
            <a:off x="503730" y="1855380"/>
            <a:ext cx="10863265" cy="4575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OpenSSL Documentation</a:t>
            </a:r>
            <a:b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https://www.openssl.org/docs/</a:t>
            </a:r>
          </a:p>
          <a:p>
            <a:pPr marL="342900" marR="0" lvl="0" indent="-342900"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de-DE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GnuPG User Guide</a:t>
            </a:r>
            <a:br>
              <a:rPr lang="de-DE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e-DE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https://www.gnupg.org/documentation/</a:t>
            </a:r>
            <a:endParaRPr lang="en-US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NIST Cryptographic Standards</a:t>
            </a:r>
            <a:b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https://csrc.nist.gov/publications</a:t>
            </a:r>
          </a:p>
          <a:p>
            <a:pPr marL="342900" marR="0" lvl="0" indent="-342900"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Applied Cryptography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by Bruce Schneier</a:t>
            </a:r>
            <a:b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Wiley, 2nd Edition</a:t>
            </a:r>
          </a:p>
          <a:p>
            <a:pPr marL="342900" marR="0" lvl="0" indent="-342900"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Cryptography and Network Security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by William Stallings</a:t>
            </a:r>
            <a:b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Pearson, 7th Edition</a:t>
            </a:r>
          </a:p>
          <a:p>
            <a:pPr marL="342900" marR="0" lvl="0" indent="-342900"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GNU Privacy Handbook</a:t>
            </a:r>
            <a:b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https://www.gnupg.org/gph/en/manual.html</a:t>
            </a:r>
          </a:p>
          <a:p>
            <a:pPr marL="342900" marR="0" lvl="0" indent="-342900"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Nigeria Data Protection Regulation (NDPR)</a:t>
            </a:r>
            <a:b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NITDA, 2019</a:t>
            </a:r>
          </a:p>
          <a:p>
            <a:pPr marL="342900" marR="0" lvl="0" indent="-342900"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RFC 4880 - OpenPGP Message Format</a:t>
            </a:r>
            <a:b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IETF Standards</a:t>
            </a:r>
          </a:p>
          <a:p>
            <a:pPr marL="0" marR="0"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8"/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66" name="Google Shape;166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 txBox="1"/>
          <p:nvPr/>
        </p:nvSpPr>
        <p:spPr>
          <a:xfrm>
            <a:off x="-1409815" y="2160121"/>
            <a:ext cx="11477177" cy="1695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lang="en-US" sz="9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9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877</Words>
  <Application>Microsoft Office PowerPoint</Application>
  <PresentationFormat>Widescreen</PresentationFormat>
  <Paragraphs>106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Olaniyi Eluwole</dc:creator>
  <cp:lastModifiedBy>user</cp:lastModifiedBy>
  <cp:revision>5</cp:revision>
  <dcterms:created xsi:type="dcterms:W3CDTF">2024-10-09T19:59:03Z</dcterms:created>
  <dcterms:modified xsi:type="dcterms:W3CDTF">2025-10-31T09:35:14Z</dcterms:modified>
</cp:coreProperties>
</file>